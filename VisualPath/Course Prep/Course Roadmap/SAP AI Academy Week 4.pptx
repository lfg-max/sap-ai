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 Light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nter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.fntdata"/><Relationship Id="rId22" Type="http://schemas.openxmlformats.org/officeDocument/2006/relationships/font" Target="fonts/InterLight-boldItalic.fntdata"/><Relationship Id="rId21" Type="http://schemas.openxmlformats.org/officeDocument/2006/relationships/font" Target="fonts/InterLight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Ligh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9" Type="http://schemas.openxmlformats.org/officeDocument/2006/relationships/image" Target="../media/image41.png"/><Relationship Id="rId5" Type="http://schemas.openxmlformats.org/officeDocument/2006/relationships/image" Target="../media/image32.png"/><Relationship Id="rId6" Type="http://schemas.openxmlformats.org/officeDocument/2006/relationships/image" Target="../media/image8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9" Type="http://schemas.openxmlformats.org/officeDocument/2006/relationships/image" Target="../media/image45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10" Type="http://schemas.openxmlformats.org/officeDocument/2006/relationships/image" Target="../media/image39.png"/><Relationship Id="rId9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5" Type="http://schemas.openxmlformats.org/officeDocument/2006/relationships/image" Target="../media/image33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555676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Week 4: Integration &amp; Capstone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63317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SAP AI Academy: From Model to Production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971008"/>
            <a:ext cx="857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Focus: DOX, CAP, Lifecycle Ops, and Final Project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75" y="1517451"/>
            <a:ext cx="8572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3869"/>
            <a:ext cx="2095500" cy="1325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9875" y="3813869"/>
            <a:ext cx="2095500" cy="1325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8250" y="3813869"/>
            <a:ext cx="2095500" cy="1325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6625" y="3813869"/>
            <a:ext cx="2095500" cy="1325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0" y="3813869"/>
            <a:ext cx="2095500" cy="132561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 4 Curriculum Roadmap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93756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week focuses on bringing your AI models out of isolation and into real-world business applications.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23900" y="4013894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DAY 16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3000" y="4280594"/>
            <a:ext cx="952500" cy="645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 Information Extraction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2962275" y="4013894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DAY 17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995612" y="4280594"/>
            <a:ext cx="1724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in CAP Integration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200650" y="4013894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DAY 18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372100" y="4280594"/>
            <a:ext cx="1447800" cy="422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Lifecycle Mgmt &amp; Ops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439025" y="4013894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DAY 19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24762" y="4280594"/>
            <a:ext cx="1419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Capstone Design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77400" y="4013894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DAY 20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844087" y="4280594"/>
            <a:ext cx="1457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Capstone Review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762000"/>
            <a:ext cx="4800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16: Document Information Extraction (DOX)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161925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AI service that automatically extracts structured data from business documents like invoices and purchase orders.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238250" y="2876550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Pre-trained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Out-of-the-box support for Invoices, Purchase Orders, Payment Advice. No training required.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38250" y="3981450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the "Template" feature to annotate and train models for your specific custom forms.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238250" y="5086350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JSON Output: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Returns header fields (Vendor, Date) and line items in a clean, machine-readable JSON format.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28765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39814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0863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71762"/>
            <a:ext cx="52387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348037"/>
            <a:ext cx="466725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16 Lab: Extracting Invoice Data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0" y="2957512"/>
            <a:ext cx="49006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Expected JSON Output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47750" y="180975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Service Activation: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Go to BTP Cockpit &gt; Service Marketplace. Search for "Document Information Extraction". Create a 'free' instance.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291465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Launch UI: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Click "View Dashboard" or "Go to Application" from the service instance to open the DOX UI.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47750" y="401955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Document: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Select the "Invoice" document type. Upload a sample PDF invoice from your local machine.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47750" y="512445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Review Results: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Wait for status 'READY'. Click the document to see the extracted fields overlay and the JSON payload on the right.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9765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18097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29146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40195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5124450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17: AI in Cloud Application Programming (CAP)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478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6381750" y="20145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Integration Pattern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24812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 (Cloud Application Programming) is SAP's opinionated framework for building enterprise apps. Integrating AI follows a standard side-by-side pattern: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57975" y="3586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62750" y="35861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Binding: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CAP app binds to the AI Core Service Instance via a Service Key.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657975" y="4195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62750" y="41957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Destination: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CAP uses BTP Destinations to securely store the AI Core API URL and Credentials.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57975" y="48053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4805362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Consumption: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CAP service (Node.js/Java) calls the AI inference endpoint during business logic execution (e.g., "On Invoice Create").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2859"/>
            <a:ext cx="523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92859"/>
            <a:ext cx="5238750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17 Lab: Binding Services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270703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Follow these CLI steps to initialize your project and bind the AI service.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3202334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Initialize Project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4773959"/>
            <a:ext cx="5238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creates the standard srv/, db/, and app/ folder structure.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381750" y="3202334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Define Resources (mta.yaml)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381750" y="497398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MTA file defines the dependency on the AI Core service instance.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34924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076450"/>
            <a:ext cx="3492549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076450"/>
            <a:ext cx="34924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18: Lifecycle Management (MLOps)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794228" y="302895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 Control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66775" y="3495675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Stop Instances: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AI Core, you pay for compute time. Always stop deployments when not in use. Use "Time-to-Live" settings in Argo workflows.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572375" y="30289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Versioning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44925" y="34956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Artifacts: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Never overwrite models. Use semantic versioning (v1.0, v1.1) for artifacts in the object store. AI Core tracks lineage automatically.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50679" y="302895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Retraining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423225" y="3495675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Models drift over time. Set up a "CronWorkflow" in AI Core to trigger retraining pipelines automatically every week/month.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409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163" y="24098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650" y="24098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6858000" y="77628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18 Lab: Monitoring &amp; Metrics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58000" y="135731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Navigate to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SAP AI Launchpad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monitor your deployments.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334250" y="2309812"/>
            <a:ext cx="4095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Resource Groups: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Check the "default" resource group. Ensure you are not exceeding your quota (Free tier has strict limits).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334250" y="3719512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Deployment Status: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Go to "Deployments". Look for the "Status" column. Green means 'Running', Red means 'Dead'.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334250" y="4824412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Click on a deployment ID -&gt; "Logs". This is where you debug standard output (stdout) from your Python container.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858000" y="2309812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858000" y="3719512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858000" y="4824412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19: Capstone Design Strategy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23764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Challenge: Automated Support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28432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Build a system that takes an incoming user support ticket, classifies it (Billing vs. Technical), and drafts a response.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9481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Components: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78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847725" y="44434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52500" y="44434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Ingestion: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CAP Endpoint (POST /ticket)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47725" y="47482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52500" y="4748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Scikit-learn model on AI Core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7725" y="5053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52500" y="50530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LLM (GPT-4) via GenAI Hub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11049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1750" y="3248025"/>
            <a:ext cx="12954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8175" y="3248025"/>
            <a:ext cx="13144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3248025"/>
            <a:ext cx="14859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0575" y="3248025"/>
            <a:ext cx="12096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19 Lab: System Flow Blueprint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56959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Task: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Draw this flow in your design document. Identify which Service Key is needed for steps 2 and 3.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7650" y="34813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25" y="34813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20050" y="3481387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762000" y="92868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20: Final Review &amp; Certification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762000" y="1509712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Congratulations! You have completed the 4-week crash course. Before you finish, ensure you are ready for the next steps.</a:t>
            </a:r>
            <a:endParaRPr/>
          </a:p>
        </p:txBody>
      </p:sp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238250" y="2767012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Certification: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This course prepares you for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C_AI_102: SAP Certified Associate - Back-End Developer - SAP AI Core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238250" y="3871912"/>
            <a:ext cx="4095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Portfolio: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Commit your final Capstone code to GitHub. This is your proof of work.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238250" y="4672012"/>
            <a:ext cx="4095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Community: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Join the SAP Community "Artificial Intelligence" tag to stay updated on SDK changes.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2767012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62000" y="3871912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762000" y="4672012"/>
            <a:ext cx="1895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counter(step-counter)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19400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819400"/>
            <a:ext cx="34924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Day 20 Lab: Vital Cleanup Steps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6575" y="21621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3276600" y="2143125"/>
            <a:ext cx="809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WARNING: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94228" y="377190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Stop Deployments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66775" y="423862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 to AI Launchpad &gt; Deployments. Select all "Running" deployments and click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STOP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4572375" y="377190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Delete Service Keys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4644925" y="42386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you created keys for local testing, delete them to revoke access to your instance.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8350679" y="377190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Archive Code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8423225" y="423862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Push all local changes to git. Your BTP trial account expires in 90 days, but GitHub is forever.</a:t>
            </a:r>
            <a:endParaRPr/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74825" y="31527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29163" y="31527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83650" y="31527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571500" y="561379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71500" y="119002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1590079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257294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335771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434057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25634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25634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33481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33481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43310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43310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53139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53139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386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666875" y="173295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https://cdn.prod.website-files.com/64be86eaa29fa71f24b00685/66ab7031994f2151d167c05f_AD_4nXfN5sfWYXnZrRljNkie-dImkoQGhRbeXov8Xh0RNTrAbnAoV_J7pJhq_paHvaMP3mA4AmmNpQByiXU5kx_5KmrbfK6euxt6Ij6VEVwEXd_5ZtM5sXZcL8C9gcDhth1HVmEoGOh1wlHx_qh7uUjAaMbNLa_9.png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666875" y="21767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www.docsumo.com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223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66875" y="27158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https://developer.mozilla.org/en-US/docs/Learn_web_development/Extensions/Server-side/First_steps/Introduction/web_application_with_html_and_steps.png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29615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developer.mozilla.org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62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66875" y="350058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https://png.pngtree.com/png-vector/20251215/ourlarge/pngtree-modern-computer-monitor-displaying-complex-business-analytics-dashboard-with-charts-graphs-png-image_18241405.webp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39443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891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66875" y="448344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https://media2.dev.to/dynamic/image/width=800%2Cheight=%2Cfit=scale-down%2Cgravity=auto%2Cformat=auto/https%3A%2F%2Fdev-to-uploads.s3.amazonaws.com%2Fi%2F68u9i8s5cn82bouuj784.png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49272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dev.to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571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546630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https://static.vecteezy.com/system/resources/previews/069/378/268/non_2x/person-holding-large-pencil-completing-checklist-on-clipboard-for-task-management-and-productivity-concept-illustration-vector.jpg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59101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