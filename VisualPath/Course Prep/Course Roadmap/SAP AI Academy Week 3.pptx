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 Light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JetBrains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Light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Light-italic.fntdata"/><Relationship Id="rId25" Type="http://schemas.openxmlformats.org/officeDocument/2006/relationships/font" Target="fonts/InterLight-bold.fntdata"/><Relationship Id="rId28" Type="http://schemas.openxmlformats.org/officeDocument/2006/relationships/font" Target="fonts/Inter-regular.fntdata"/><Relationship Id="rId27" Type="http://schemas.openxmlformats.org/officeDocument/2006/relationships/font" Target="fonts/Inter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6.xml"/><Relationship Id="rId33" Type="http://schemas.openxmlformats.org/officeDocument/2006/relationships/font" Target="fonts/JetBrainsMono-bold.fntdata"/><Relationship Id="rId10" Type="http://schemas.openxmlformats.org/officeDocument/2006/relationships/slide" Target="slides/slide5.xml"/><Relationship Id="rId32" Type="http://schemas.openxmlformats.org/officeDocument/2006/relationships/font" Target="fonts/JetBrainsMono-regular.fntdata"/><Relationship Id="rId13" Type="http://schemas.openxmlformats.org/officeDocument/2006/relationships/slide" Target="slides/slide8.xml"/><Relationship Id="rId35" Type="http://schemas.openxmlformats.org/officeDocument/2006/relationships/font" Target="fonts/JetBrainsMono-boldItalic.fntdata"/><Relationship Id="rId12" Type="http://schemas.openxmlformats.org/officeDocument/2006/relationships/slide" Target="slides/slide7.xml"/><Relationship Id="rId34" Type="http://schemas.openxmlformats.org/officeDocument/2006/relationships/font" Target="fonts/JetBrainsMon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30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36.png"/><Relationship Id="rId5" Type="http://schemas.openxmlformats.org/officeDocument/2006/relationships/image" Target="../media/image1.png"/><Relationship Id="rId6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Relationship Id="rId9" Type="http://schemas.openxmlformats.org/officeDocument/2006/relationships/image" Target="../media/image6.png"/><Relationship Id="rId5" Type="http://schemas.openxmlformats.org/officeDocument/2006/relationships/image" Target="../media/image34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36.png"/><Relationship Id="rId5" Type="http://schemas.openxmlformats.org/officeDocument/2006/relationships/image" Target="../media/image9.png"/><Relationship Id="rId6" Type="http://schemas.openxmlformats.org/officeDocument/2006/relationships/image" Target="../media/image52.png"/><Relationship Id="rId7" Type="http://schemas.openxmlformats.org/officeDocument/2006/relationships/image" Target="../media/image10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36.png"/><Relationship Id="rId5" Type="http://schemas.openxmlformats.org/officeDocument/2006/relationships/image" Target="../media/image15.png"/><Relationship Id="rId6" Type="http://schemas.openxmlformats.org/officeDocument/2006/relationships/image" Target="../media/image22.png"/><Relationship Id="rId7" Type="http://schemas.openxmlformats.org/officeDocument/2006/relationships/image" Target="../media/image26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36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Relationship Id="rId7" Type="http://schemas.openxmlformats.org/officeDocument/2006/relationships/image" Target="../media/image32.png"/><Relationship Id="rId8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35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50.png"/><Relationship Id="rId7" Type="http://schemas.openxmlformats.org/officeDocument/2006/relationships/image" Target="../media/image46.png"/><Relationship Id="rId8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31.png"/><Relationship Id="rId9" Type="http://schemas.openxmlformats.org/officeDocument/2006/relationships/image" Target="../media/image42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33.png"/><Relationship Id="rId8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7.png"/><Relationship Id="rId4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49.png"/><Relationship Id="rId9" Type="http://schemas.openxmlformats.org/officeDocument/2006/relationships/image" Target="../media/image51.png"/><Relationship Id="rId5" Type="http://schemas.openxmlformats.org/officeDocument/2006/relationships/image" Target="../media/image48.png"/><Relationship Id="rId6" Type="http://schemas.openxmlformats.org/officeDocument/2006/relationships/image" Target="../media/image41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09750" y="1937593"/>
            <a:ext cx="85725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SAP AI ACADEMY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95437" y="2276623"/>
            <a:ext cx="9001125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Week 3: Generative AI Hub &amp; Joule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112865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Modern AI Development: Accessing LLMs, SDK Integration, and Prompt Engineering.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90750"/>
            <a:ext cx="5238750" cy="3310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343150"/>
            <a:ext cx="5238750" cy="300603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2581275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00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Theory Focus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091755"/>
            <a:ext cx="44577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will explore the architecture of the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SAP Generative AI Hub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focusing on the "Trust Layer" that secures enterprise data. We'll also cover the concepts behind RAG (Retrieval Augmented Generation) and Prompt Engineering strategies.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72275" y="2733675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862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Practical Focus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72275" y="3244155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Hands-on labs will involve enabling entitlements in BTP, configuring the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Python SDK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and building a context-aware chatbot using LangChain. You will deploy a working prototype by the end of the week.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60032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75272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163317" y="571500"/>
            <a:ext cx="405863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Week 3 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4116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1838325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The Trust Layer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234880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SAP does not host the LLMs directly but provides a secure proxy to providers like Azure OpenAI and AWS Bedrock. This ensures: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4116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333500" y="345370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 Privacy: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Your data is not used to train foundation models.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333500" y="425380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Legal Compliance: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Adherence to enterprise SLAs.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333500" y="505390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Abstraction: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Switch models (e.g., GPT-4 to Claude) without rewriting code.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49656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29666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5096767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872704" y="571500"/>
            <a:ext cx="8868764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11: Generative AI Hub Architecture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90750"/>
            <a:ext cx="3492549" cy="3310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90750"/>
            <a:ext cx="3492549" cy="3310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90750"/>
            <a:ext cx="3492549" cy="331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794225" y="3286125"/>
            <a:ext cx="304709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1. BTP Cockpit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66775" y="379660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Log in to your Trial Account and navigate to your Subaccount &gt;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Entitlements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572524" y="3286125"/>
            <a:ext cx="304709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2. Add Service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645074" y="379660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Search for "SAP AI Core" and "Generative AI Hub". Ensure you select the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Free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plan.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350824" y="3286125"/>
            <a:ext cx="304709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3. Create Instance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423374" y="379660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Go to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Instances and Subscriptions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create a new instance for AI Core with the extended service plan.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7200" y="25908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25908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3799" y="25908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2461319" y="571500"/>
            <a:ext cx="7632672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11 Lab: Enabling Entitlements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4116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16287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generative-ai-hub-sdk is a Python wrapper designed to simplify interactions with the AI Hub.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2733675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Why use the SDK?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4116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1333500" y="324415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Token Management: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Automatically handles OAuth tokens and connectivity.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333500" y="4044255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 Agnostic: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Standardized API calls regardless of the underlying model (GPT-3.5, GPT-4, etc.).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333500" y="5149155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Configuration: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Easy management of deployments and resource groups via local config files.</a:t>
            </a:r>
            <a:endParaRPr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28701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408711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5192017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2354312" y="571500"/>
            <a:ext cx="7857388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12: SAP GenAI SDK for Python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326010"/>
            <a:ext cx="4572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762000" y="762000"/>
            <a:ext cx="48006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12 Lab: First API Call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762000" y="233541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Install the SDK via pip and run your first completion.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674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952500" y="3649860"/>
            <a:ext cx="41910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</a:t>
            </a:r>
            <a:r>
              <a:rPr b="0" i="0" lang="en-US" sz="10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install generative-ai-hub-sdk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Python Script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r>
              <a:rPr b="0" i="0" lang="en-US" sz="10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gen_ai_hub.proxy.core.proxy_clients </a:t>
            </a:r>
            <a:r>
              <a:rPr b="0" i="0" lang="en-US" sz="1050" u="none" cap="none" strike="noStrike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r>
              <a:rPr b="0" i="0" lang="en-US" sz="10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get_proxy_client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proxy_client = get_proxy_client(</a:t>
            </a:r>
            <a:r>
              <a:rPr b="0" i="0" lang="en-US" sz="1050" u="none" cap="none" strike="noStrike">
                <a:solidFill>
                  <a:srgbClr val="A5F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"gen-ai-hub"</a:t>
            </a:r>
            <a:r>
              <a:rPr b="0" i="0" lang="en-US" sz="10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response = proxy_client.chat.completions.create(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model_name=</a:t>
            </a:r>
            <a:r>
              <a:rPr b="0" i="0" lang="en-US" sz="1050" u="none" cap="none" strike="noStrike">
                <a:solidFill>
                  <a:srgbClr val="A5F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"gpt-35-turbo"</a:t>
            </a:r>
            <a:r>
              <a:rPr b="0" i="0" lang="en-US" sz="10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messages=[{</a:t>
            </a:r>
            <a:r>
              <a:rPr b="0" i="0" lang="en-US" sz="1050" u="none" cap="none" strike="noStrike">
                <a:solidFill>
                  <a:srgbClr val="A5F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"role"</a:t>
            </a:r>
            <a:r>
              <a:rPr b="0" i="0" lang="en-US" sz="10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50" u="none" cap="none" strike="noStrike">
                <a:solidFill>
                  <a:srgbClr val="A5F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"user"</a:t>
            </a:r>
            <a:r>
              <a:rPr b="0" i="0" lang="en-US" sz="10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i="0" lang="en-US" sz="1050" u="none" cap="none" strike="noStrike">
                <a:solidFill>
                  <a:srgbClr val="A5F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"content"</a:t>
            </a:r>
            <a:r>
              <a:rPr b="0" i="0" lang="en-US" sz="10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</a:t>
            </a:r>
            <a:r>
              <a:rPr b="0" i="0" lang="en-US" sz="1050" u="none" cap="none" strike="noStrike">
                <a:solidFill>
                  <a:srgbClr val="A5F3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"Hello SAP!"</a:t>
            </a:r>
            <a:r>
              <a:rPr b="0" i="0" lang="en-US" sz="10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FBBF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b="0" i="0" lang="en-US" sz="10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(response.choices[0].message.content)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4116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571500" y="1743075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Key Strategies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71500" y="225355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Prompting is the new coding. In an enterprise context, accuracy is paramount.</a:t>
            </a:r>
            <a:endParaRPr/>
          </a:p>
        </p:txBody>
      </p:sp>
      <p:pic>
        <p:nvPicPr>
          <p:cNvPr descr="image.png" id="170" name="Google Shape;17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4116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1333500" y="3548955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Zero-Shot: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Asking the model without examples.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333500" y="404425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Few-Shot: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Providing 2-3 examples (e.g., "Input: A, Output: B") to guide the model's format.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1333500" y="4844355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Chain-of-Thought: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Asking the model to "think step-by-step" to improve reasoning on complex tasks.</a:t>
            </a:r>
            <a:endParaRPr/>
          </a:p>
        </p:txBody>
      </p:sp>
      <p:pic>
        <p:nvPicPr>
          <p:cNvPr descr="image.png" id="174" name="Google Shape;17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59181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408711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4887217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1884759" y="571500"/>
            <a:ext cx="884360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13: Enterprise Prompt Engineering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1809750" y="2472779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TASK: SUMMARIZE PO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2190750" y="3082379"/>
            <a:ext cx="7810500" cy="1706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1E293B"/>
                </a:solidFill>
                <a:latin typeface="Inter Light"/>
                <a:ea typeface="Inter Light"/>
                <a:cs typeface="Inter Light"/>
                <a:sym typeface="Inter Light"/>
              </a:rPr>
              <a:t> "You are a procurement assistant. Summarize the following Purchase Order for an executive review. Focus on the Total Value, Vendor Name, and any line items exceeding $1,000. Do not use technical jargon." 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4386262" y="5112990"/>
            <a:ext cx="34194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— Context-Aware System Prompt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2606873" y="571500"/>
            <a:ext cx="732700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13 Lab: Business Prompting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116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4116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6381750" y="1743075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Why LangChain?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381750" y="225355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While the SAP SDK handles the connection, LangChain handles the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logic flow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7143750" y="354895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Chains: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Sequence multiple LLM calls (e.g., Translate -&gt; Summarize -&gt; Email).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7143750" y="434905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Memory: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Allow the chatbot to remember previous questions in the conversation.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7143750" y="514915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Agents: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Let the LLM decide which tools to use (e.g., "Search DB" vs "Calculate").</a:t>
            </a:r>
            <a:endParaRPr/>
          </a:p>
        </p:txBody>
      </p:sp>
      <p:pic>
        <p:nvPicPr>
          <p:cNvPr descr="image.png" id="199" name="Google Shape;19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2750" y="359181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0" y="439191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2750" y="5192017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2818953" y="571500"/>
            <a:ext cx="6881797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14: LangChain Integration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68784"/>
            <a:ext cx="5238750" cy="2091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468784"/>
            <a:ext cx="5238750" cy="2091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31915"/>
            <a:ext cx="5238750" cy="2091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131915"/>
            <a:ext cx="5238750" cy="209163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962025" y="1859309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1. Initialize LLM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962025" y="236979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 LangChainOpenAI but point it to the SAP GenAI Hub proxy URL.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6772275" y="1859309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2. Add Memory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6772275" y="236979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 ConversationBufferMemory to store the chat history.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962025" y="4522440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3. Create Chain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962025" y="503292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Combine the LLM, Prompt Template, and Memory into a single execution chain.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772275" y="4522440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4. Execute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772275" y="5032920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Run the loop: chain.predict(input="My question...").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2792610" y="571500"/>
            <a:ext cx="693696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14 Lab: Building a Chatbot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4116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571500" y="1743075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Retrieval Augmented Generation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71500" y="225355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LLMs hallucinate. RAG grounds them in your trusted enterprise data.</a:t>
            </a:r>
            <a:endParaRPr/>
          </a:p>
        </p:txBody>
      </p:sp>
      <p:pic>
        <p:nvPicPr>
          <p:cNvPr descr="image.png" id="229" name="Google Shape;22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4116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1333500" y="354895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Retrieval: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Search a Vector Database (like SAP HANA Cloud) for relevant documents.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1333500" y="434905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Augmentation: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Inject these documents into the prompt context.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1333500" y="514915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LLM answers the user's question using </a:t>
            </a:r>
            <a:r>
              <a:rPr b="0" i="1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only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provided facts.</a:t>
            </a:r>
            <a:endParaRPr/>
          </a:p>
        </p:txBody>
      </p:sp>
      <p:pic>
        <p:nvPicPr>
          <p:cNvPr descr="image.png" id="233" name="Google Shape;23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59181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4391917"/>
            <a:ext cx="1905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5192017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3665190" y="571500"/>
            <a:ext cx="5104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15: RAG Concepts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3150"/>
            <a:ext cx="3492549" cy="3006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43150"/>
            <a:ext cx="3492549" cy="30060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43150"/>
            <a:ext cx="3492549" cy="300603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794225" y="3438525"/>
            <a:ext cx="304709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1. Ingest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866775" y="394900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Load a local PDF or text file containing "proprietary" information.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4572524" y="3438525"/>
            <a:ext cx="304709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2. Embed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4645074" y="394900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Convert text to vectors using the text-embedding-ada-002 model via SDK.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8350824" y="3438525"/>
            <a:ext cx="304709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3. Query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8423374" y="394900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Find the most similar text chunk to the user's question and pass it to GPT-4.</a:t>
            </a:r>
            <a:endParaRPr/>
          </a:p>
        </p:txBody>
      </p:sp>
      <p:pic>
        <p:nvPicPr>
          <p:cNvPr descr="image.png" id="251" name="Google Shape;25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7200" y="27432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9312" y="27432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3799" y="27432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3116907" y="571500"/>
            <a:ext cx="6256094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Day 15 Lab: RAG Simulation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9350" y="1642169"/>
            <a:ext cx="7353300" cy="357366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2835592" y="2213669"/>
            <a:ext cx="6520815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Week 3 Complete!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2990850" y="3173759"/>
            <a:ext cx="62103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You have mastered the GenAI Hub, SDK, and RAG basics.</a:t>
            </a:r>
            <a:endParaRPr/>
          </a:p>
        </p:txBody>
      </p:sp>
      <p:sp>
        <p:nvSpPr>
          <p:cNvPr id="263" name="Google Shape;263;p25"/>
          <p:cNvSpPr/>
          <p:nvPr/>
        </p:nvSpPr>
        <p:spPr>
          <a:xfrm>
            <a:off x="5619750" y="3825180"/>
            <a:ext cx="952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2990850" y="4149030"/>
            <a:ext cx="6210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770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Next Up: Week 4 - Capstone Project &amp; Production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/>
          <p:nvPr/>
        </p:nvSpPr>
        <p:spPr>
          <a:xfrm>
            <a:off x="571500" y="139764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571500" y="2182415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571500" y="316527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571500" y="395004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571500" y="473481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571500" y="21728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571500" y="21728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571500" y="315575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571500" y="315575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571500" y="394052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571500" y="394052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571500" y="47252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571500" y="47252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571500" y="55100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571500" y="55100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5" name="Google Shape;28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706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6"/>
          <p:cNvSpPr txBox="1"/>
          <p:nvPr/>
        </p:nvSpPr>
        <p:spPr>
          <a:xfrm>
            <a:off x="1666875" y="154051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https://d2908q01vomqb2.cloudfront.net/17ba0791499db908433b80f37c5fbc89b870084b/2024/05/31/AWS-for-SAP-Generative-AI-Hub-1260x582.png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1666875" y="178623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aws.amazon.com</a:t>
            </a:r>
            <a:endParaRPr/>
          </a:p>
        </p:txBody>
      </p:sp>
      <p:pic>
        <p:nvPicPr>
          <p:cNvPr descr="image.png" id="288" name="Google Shape;28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3095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6"/>
          <p:cNvSpPr txBox="1"/>
          <p:nvPr/>
        </p:nvSpPr>
        <p:spPr>
          <a:xfrm>
            <a:off x="1666875" y="232529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https://eu-images.contentstack.com/v3/assets/blt6d90778a997de1cd/blt85f164bb7fd5392e/64f1746496efc94ac92f9003/python_Trismegist_san_shutterstock.jpg?width=1280&amp;auto=webp&amp;quality=80&amp;disable=upscale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1666875" y="276909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www.darkreading.com</a:t>
            </a:r>
            <a:endParaRPr/>
          </a:p>
        </p:txBody>
      </p:sp>
      <p:pic>
        <p:nvPicPr>
          <p:cNvPr descr="image.png" id="291" name="Google Shape;29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147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1666875" y="330815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https://developers.sap.com/tutorials/cp-trial-entitlements/jcr:content.github-proxy.1700503212.file/FreeQuotaEntitlements.png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1666875" y="355386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developers.sap.com</a:t>
            </a:r>
            <a:endParaRPr/>
          </a:p>
        </p:txBody>
      </p:sp>
      <p:pic>
        <p:nvPicPr>
          <p:cNvPr descr="image.png" id="294" name="Google Shape;29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9947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6"/>
          <p:cNvSpPr txBox="1"/>
          <p:nvPr/>
        </p:nvSpPr>
        <p:spPr>
          <a:xfrm>
            <a:off x="1666875" y="409292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https://learnprompting.org/docs/assets/basics/few_shot.svg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1666875" y="433863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learnprompting.org</a:t>
            </a:r>
            <a:endParaRPr/>
          </a:p>
        </p:txBody>
      </p:sp>
      <p:pic>
        <p:nvPicPr>
          <p:cNvPr descr="image.png" id="297" name="Google Shape;297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842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6"/>
          <p:cNvSpPr txBox="1"/>
          <p:nvPr/>
        </p:nvSpPr>
        <p:spPr>
          <a:xfrm>
            <a:off x="1666875" y="487769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https://miro.medium.com/1*TcKz4RNXI2QN3Ben0VTbag.png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1666875" y="512340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pic>
        <p:nvPicPr>
          <p:cNvPr descr="image.png" id="300" name="Google Shape;300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6690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6"/>
          <p:cNvSpPr txBox="1"/>
          <p:nvPr/>
        </p:nvSpPr>
        <p:spPr>
          <a:xfrm>
            <a:off x="1666875" y="566246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https://miro.medium.com/v2/resize:fit:1400/1*MI9WDgzoOGAH4bOnAwBKEw.jpeg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1666875" y="590817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blog.gopenai.com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4468266" y="563314"/>
            <a:ext cx="341808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