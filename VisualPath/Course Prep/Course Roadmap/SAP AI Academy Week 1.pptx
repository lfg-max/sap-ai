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Inter Light"/>
      <p:regular r:id="rId20"/>
      <p:bold r:id="rId21"/>
      <p:italic r:id="rId22"/>
      <p:boldItalic r:id="rId23"/>
    </p:embeddedFont>
    <p:embeddedFont>
      <p:font typeface="Inter SemiBold"/>
      <p:regular r:id="rId24"/>
      <p:bold r:id="rId25"/>
      <p:italic r:id="rId26"/>
      <p:boldItalic r:id="rId27"/>
    </p:embeddedFont>
    <p:embeddedFont>
      <p:font typeface="Inter"/>
      <p:regular r:id="rId28"/>
      <p:bold r:id="rId29"/>
      <p:italic r:id="rId30"/>
      <p:boldItalic r:id="rId31"/>
    </p:embeddedFont>
    <p:embeddedFont>
      <p:font typeface="Inter ExtraBold"/>
      <p:bold r:id="rId32"/>
      <p:boldItalic r:id="rId33"/>
    </p:embeddedFont>
    <p:embeddedFont>
      <p:font typeface="Inter Medium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2A16652-C1C1-4168-AF4A-B1E2BBEFFBD0}">
  <a:tblStyle styleId="{82A16652-C1C1-4168-AF4A-B1E2BBEFFBD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Light-regular.fntdata"/><Relationship Id="rId22" Type="http://schemas.openxmlformats.org/officeDocument/2006/relationships/font" Target="fonts/InterLight-italic.fntdata"/><Relationship Id="rId21" Type="http://schemas.openxmlformats.org/officeDocument/2006/relationships/font" Target="fonts/InterLight-bold.fntdata"/><Relationship Id="rId24" Type="http://schemas.openxmlformats.org/officeDocument/2006/relationships/font" Target="fonts/InterSemiBold-regular.fntdata"/><Relationship Id="rId23" Type="http://schemas.openxmlformats.org/officeDocument/2006/relationships/font" Target="fonts/InterLight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InterSemiBold-italic.fntdata"/><Relationship Id="rId25" Type="http://schemas.openxmlformats.org/officeDocument/2006/relationships/font" Target="fonts/InterSemiBold-bold.fntdata"/><Relationship Id="rId28" Type="http://schemas.openxmlformats.org/officeDocument/2006/relationships/font" Target="fonts/Inter-regular.fntdata"/><Relationship Id="rId27" Type="http://schemas.openxmlformats.org/officeDocument/2006/relationships/font" Target="fonts/InterSemiBold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Inter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nter-boldItalic.fntdata"/><Relationship Id="rId30" Type="http://schemas.openxmlformats.org/officeDocument/2006/relationships/font" Target="fonts/Inter-italic.fntdata"/><Relationship Id="rId11" Type="http://schemas.openxmlformats.org/officeDocument/2006/relationships/slide" Target="slides/slide5.xml"/><Relationship Id="rId33" Type="http://schemas.openxmlformats.org/officeDocument/2006/relationships/font" Target="fonts/InterExtraBold-boldItalic.fntdata"/><Relationship Id="rId10" Type="http://schemas.openxmlformats.org/officeDocument/2006/relationships/slide" Target="slides/slide4.xml"/><Relationship Id="rId32" Type="http://schemas.openxmlformats.org/officeDocument/2006/relationships/font" Target="fonts/InterExtraBold-bold.fntdata"/><Relationship Id="rId13" Type="http://schemas.openxmlformats.org/officeDocument/2006/relationships/slide" Target="slides/slide7.xml"/><Relationship Id="rId35" Type="http://schemas.openxmlformats.org/officeDocument/2006/relationships/font" Target="fonts/InterMedium-bold.fntdata"/><Relationship Id="rId12" Type="http://schemas.openxmlformats.org/officeDocument/2006/relationships/slide" Target="slides/slide6.xml"/><Relationship Id="rId34" Type="http://schemas.openxmlformats.org/officeDocument/2006/relationships/font" Target="fonts/InterMedium-regular.fntdata"/><Relationship Id="rId15" Type="http://schemas.openxmlformats.org/officeDocument/2006/relationships/slide" Target="slides/slide9.xml"/><Relationship Id="rId37" Type="http://schemas.openxmlformats.org/officeDocument/2006/relationships/font" Target="fonts/InterMedium-boldItalic.fntdata"/><Relationship Id="rId14" Type="http://schemas.openxmlformats.org/officeDocument/2006/relationships/slide" Target="slides/slide8.xml"/><Relationship Id="rId36" Type="http://schemas.openxmlformats.org/officeDocument/2006/relationships/font" Target="fonts/InterMedium-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7.png"/><Relationship Id="rId5" Type="http://schemas.openxmlformats.org/officeDocument/2006/relationships/image" Target="../media/image18.png"/><Relationship Id="rId6" Type="http://schemas.openxmlformats.org/officeDocument/2006/relationships/image" Target="../media/image11.png"/><Relationship Id="rId7" Type="http://schemas.openxmlformats.org/officeDocument/2006/relationships/image" Target="../media/image13.png"/><Relationship Id="rId8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0.png"/><Relationship Id="rId4" Type="http://schemas.openxmlformats.org/officeDocument/2006/relationships/image" Target="../media/image6.png"/><Relationship Id="rId5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17.png"/><Relationship Id="rId7" Type="http://schemas.openxmlformats.org/officeDocument/2006/relationships/image" Target="../media/image31.png"/><Relationship Id="rId8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image" Target="../media/image14.png"/><Relationship Id="rId5" Type="http://schemas.openxmlformats.org/officeDocument/2006/relationships/image" Target="../media/image2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png"/><Relationship Id="rId4" Type="http://schemas.openxmlformats.org/officeDocument/2006/relationships/image" Target="../media/image25.png"/><Relationship Id="rId5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7.png"/><Relationship Id="rId4" Type="http://schemas.openxmlformats.org/officeDocument/2006/relationships/image" Target="../media/image27.png"/><Relationship Id="rId10" Type="http://schemas.openxmlformats.org/officeDocument/2006/relationships/image" Target="../media/image45.png"/><Relationship Id="rId9" Type="http://schemas.openxmlformats.org/officeDocument/2006/relationships/image" Target="../media/image30.png"/><Relationship Id="rId5" Type="http://schemas.openxmlformats.org/officeDocument/2006/relationships/image" Target="../media/image26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Relationship Id="rId8" Type="http://schemas.openxmlformats.org/officeDocument/2006/relationships/image" Target="../media/image4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6.png"/><Relationship Id="rId4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png"/><Relationship Id="rId4" Type="http://schemas.openxmlformats.org/officeDocument/2006/relationships/image" Target="../media/image44.png"/><Relationship Id="rId5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2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Relationship Id="rId6" Type="http://schemas.openxmlformats.org/officeDocument/2006/relationships/image" Target="../media/image33.png"/><Relationship Id="rId7" Type="http://schemas.openxmlformats.org/officeDocument/2006/relationships/image" Target="../media/image4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5.png"/><Relationship Id="rId4" Type="http://schemas.openxmlformats.org/officeDocument/2006/relationships/image" Target="../media/image34.png"/><Relationship Id="rId5" Type="http://schemas.openxmlformats.org/officeDocument/2006/relationships/image" Target="../media/image40.png"/><Relationship Id="rId6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571500"/>
            <a:ext cx="11049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0810875" y="6524625"/>
            <a:ext cx="10953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❖</a:t>
            </a:r>
            <a:r>
              <a:rPr b="0" i="0" lang="en-US" sz="90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 SAP AI Academy</a:t>
            </a:r>
            <a:endParaRPr/>
          </a:p>
        </p:txBody>
      </p:sp>
      <p:pic>
        <p:nvPicPr>
          <p:cNvPr descr="image.png" id="87" name="Google Shape;87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2500" y="1867941"/>
            <a:ext cx="186690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952500" y="2372766"/>
            <a:ext cx="7050881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00" u="none" cap="none" strike="noStrike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Foundations &amp; Setup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952500" y="3614737"/>
            <a:ext cx="6667500" cy="1280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75569"/>
                </a:solidFill>
                <a:latin typeface="Inter Light"/>
                <a:ea typeface="Inter Light"/>
                <a:cs typeface="Inter Light"/>
                <a:sym typeface="Inter Light"/>
              </a:rPr>
              <a:t>Mastering the SAP Business Technology Platform (BTP) environment, understanding core architecture, and preparing your local development toolset.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4711600"/>
            <a:ext cx="11049000" cy="6552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18170" y="2801540"/>
            <a:ext cx="495300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83185" y="2801540"/>
            <a:ext cx="495300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48201" y="2801540"/>
            <a:ext cx="495300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13216" y="2801540"/>
            <a:ext cx="495300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378231" y="2801540"/>
            <a:ext cx="49530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800100" y="571500"/>
            <a:ext cx="1136142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Week 1 Roadmap</a:t>
            </a:r>
            <a:endParaRPr/>
          </a:p>
        </p:txBody>
      </p:sp>
      <p:sp>
        <p:nvSpPr>
          <p:cNvPr id="101" name="Google Shape;101;p14"/>
          <p:cNvSpPr/>
          <p:nvPr/>
        </p:nvSpPr>
        <p:spPr>
          <a:xfrm>
            <a:off x="571500" y="571500"/>
            <a:ext cx="76200" cy="5485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10810875" y="6524625"/>
            <a:ext cx="10953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❖</a:t>
            </a:r>
            <a:r>
              <a:rPr b="0" i="0" lang="en-US" sz="90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 SAP AI Academy</a:t>
            </a:r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571500" y="3030140"/>
            <a:ext cx="11049000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800100" y="4902100"/>
            <a:ext cx="106299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Goal: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By Friday, you will have a fully configured environment ready to deploy your first AI model.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521780" y="3524845"/>
            <a:ext cx="2088229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Intro to Business AI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571500" y="3858220"/>
            <a:ext cx="1988790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Strategy &amp; Landscape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2786795" y="3524845"/>
            <a:ext cx="2088229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Entitlements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2836515" y="3858220"/>
            <a:ext cx="1988790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Service Assignments &amp; Plans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5051810" y="3524845"/>
            <a:ext cx="2088229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Local Env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5101530" y="3858220"/>
            <a:ext cx="1988790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Docker &amp; CLI Setup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7316825" y="3524845"/>
            <a:ext cx="2088229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Security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7366545" y="3858220"/>
            <a:ext cx="1988790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Service Keys &amp; Auth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9581841" y="3524845"/>
            <a:ext cx="2088229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Launchpad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9631560" y="3858220"/>
            <a:ext cx="1988790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Admin &amp; Monitoring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9" name="Google Shape;11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1750665"/>
            <a:ext cx="52387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800100" y="571500"/>
            <a:ext cx="1136142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Day 1: SAP AI Landscape</a:t>
            </a:r>
            <a:endParaRPr/>
          </a:p>
        </p:txBody>
      </p:sp>
      <p:sp>
        <p:nvSpPr>
          <p:cNvPr id="121" name="Google Shape;121;p15"/>
          <p:cNvSpPr/>
          <p:nvPr/>
        </p:nvSpPr>
        <p:spPr>
          <a:xfrm>
            <a:off x="571500" y="571500"/>
            <a:ext cx="76200" cy="5485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5"/>
          <p:cNvSpPr txBox="1"/>
          <p:nvPr/>
        </p:nvSpPr>
        <p:spPr>
          <a:xfrm>
            <a:off x="10810875" y="6524625"/>
            <a:ext cx="10953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❖</a:t>
            </a:r>
            <a:r>
              <a:rPr b="0" i="0" lang="en-US" sz="90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 SAP AI Academy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571500" y="1738907"/>
            <a:ext cx="5500687" cy="213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The Big Picture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571500" y="2143273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SAP's AI strategy relies on a "Side-by-Side" extensibility model. We keep the core clean (S/4HANA) and run AI workloads on BTP.</a:t>
            </a:r>
            <a:endParaRPr/>
          </a:p>
        </p:txBody>
      </p:sp>
      <p:pic>
        <p:nvPicPr>
          <p:cNvPr descr="image.png" id="125" name="Google Shape;12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750665"/>
            <a:ext cx="52387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5"/>
          <p:cNvSpPr txBox="1"/>
          <p:nvPr/>
        </p:nvSpPr>
        <p:spPr>
          <a:xfrm>
            <a:off x="914400" y="3343423"/>
            <a:ext cx="4895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SAP AI Core: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The execution engine. It runs your Docker containers and manages compute resources.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914400" y="4143523"/>
            <a:ext cx="48958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SAP AI Launchpad: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The administration UI. Used to manage deployments, view logs, and configure connections.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914400" y="5248423"/>
            <a:ext cx="4895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HANA ML: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In-database machine learning (distinct from AI Core).</a:t>
            </a:r>
            <a:endParaRPr/>
          </a:p>
        </p:txBody>
      </p:sp>
      <p:pic>
        <p:nvPicPr>
          <p:cNvPr descr="image.png" id="129" name="Google Shape;12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362473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162573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5267473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6" name="Google Shape;13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501080"/>
            <a:ext cx="5238750" cy="45001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3010346"/>
            <a:ext cx="5238750" cy="1057275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6"/>
          <p:cNvSpPr txBox="1"/>
          <p:nvPr/>
        </p:nvSpPr>
        <p:spPr>
          <a:xfrm>
            <a:off x="800100" y="571500"/>
            <a:ext cx="1136142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Day 1 Lab: Environment Setup</a:t>
            </a:r>
            <a:endParaRPr/>
          </a:p>
        </p:txBody>
      </p:sp>
      <p:sp>
        <p:nvSpPr>
          <p:cNvPr id="139" name="Google Shape;139;p16"/>
          <p:cNvSpPr/>
          <p:nvPr/>
        </p:nvSpPr>
        <p:spPr>
          <a:xfrm>
            <a:off x="571500" y="571500"/>
            <a:ext cx="76200" cy="5485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 txBox="1"/>
          <p:nvPr/>
        </p:nvSpPr>
        <p:spPr>
          <a:xfrm>
            <a:off x="10810875" y="6524625"/>
            <a:ext cx="10953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❖</a:t>
            </a:r>
            <a:r>
              <a:rPr b="0" i="0" lang="en-US" sz="90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 SAP AI Academy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866775" y="1796355"/>
            <a:ext cx="4880610" cy="213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Your Checklist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6381750" y="1501080"/>
            <a:ext cx="5500687" cy="213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Why Cloud Foundry?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6381750" y="1905446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While AI Core is Kubernetes-based, the BTP Trial often uses Cloud Foundry concepts for initial organizational structure and service instantiation.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1209675" y="2200721"/>
            <a:ext cx="43053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Create Account: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Sign up for SAP BTP Trial (Cockpit).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1209675" y="3000821"/>
            <a:ext cx="43053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Global Account: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Verify you have a Global Account (P-User).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1209675" y="3800921"/>
            <a:ext cx="43053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Subaccount: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Automatically created (usually called 'trial').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1209675" y="4601021"/>
            <a:ext cx="43053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Enable Cloud Foundry: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Turn on the CF environment in your subaccount to manage orgs/spaces.</a:t>
            </a:r>
            <a:endParaRPr/>
          </a:p>
        </p:txBody>
      </p:sp>
      <p:pic>
        <p:nvPicPr>
          <p:cNvPr descr="image.png" id="148" name="Google Shape;14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6775" y="2219771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6775" y="3019871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6775" y="3819971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6775" y="4620071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6" name="Google Shape;15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682180"/>
            <a:ext cx="3492400" cy="36043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9650" y="2682180"/>
            <a:ext cx="3492549" cy="36043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27950" y="2682180"/>
            <a:ext cx="3492400" cy="3604319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7"/>
          <p:cNvSpPr txBox="1"/>
          <p:nvPr/>
        </p:nvSpPr>
        <p:spPr>
          <a:xfrm>
            <a:off x="800100" y="571500"/>
            <a:ext cx="1136142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Day 2: Entitlements &amp; Plans</a:t>
            </a:r>
            <a:endParaRPr/>
          </a:p>
        </p:txBody>
      </p:sp>
      <p:sp>
        <p:nvSpPr>
          <p:cNvPr id="160" name="Google Shape;160;p17"/>
          <p:cNvSpPr/>
          <p:nvPr/>
        </p:nvSpPr>
        <p:spPr>
          <a:xfrm>
            <a:off x="571500" y="571500"/>
            <a:ext cx="76200" cy="5485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7"/>
          <p:cNvSpPr txBox="1"/>
          <p:nvPr/>
        </p:nvSpPr>
        <p:spPr>
          <a:xfrm>
            <a:off x="10810875" y="6524625"/>
            <a:ext cx="10953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❖</a:t>
            </a:r>
            <a:r>
              <a:rPr b="0" i="0" lang="en-US" sz="90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 SAP AI Academy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571500" y="1691580"/>
            <a:ext cx="8572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Entitlements are the "currency" of SAP BTP. Without assigning them to your subaccount, you cannot create service instances.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866775" y="3634680"/>
            <a:ext cx="1490186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Entitlements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866775" y="4175670"/>
            <a:ext cx="290185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Rights to provision and consume a resource. Must be moved from Global Account to Subaccount.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4644925" y="3634680"/>
            <a:ext cx="16002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Service Plans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4644925" y="4175670"/>
            <a:ext cx="2901999" cy="7503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Define the size/variant. E.g., free vs standard. For this course, strictly use </a:t>
            </a:r>
            <a:r>
              <a:rPr b="1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free</a:t>
            </a: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tier.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8423225" y="3634680"/>
            <a:ext cx="1140142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Instances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8423225" y="4175670"/>
            <a:ext cx="290185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The actual instantiation of the service. You will create one instance for AI Core and one for Launchpad.</a:t>
            </a:r>
            <a:endParaRPr/>
          </a:p>
        </p:txBody>
      </p:sp>
      <p:pic>
        <p:nvPicPr>
          <p:cNvPr descr="image.png" id="169" name="Google Shape;169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6775" y="3015555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44925" y="3015555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23225" y="3015555"/>
            <a:ext cx="38100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6" name="Google Shape;17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1750665"/>
            <a:ext cx="52387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8"/>
          <p:cNvSpPr txBox="1"/>
          <p:nvPr/>
        </p:nvSpPr>
        <p:spPr>
          <a:xfrm>
            <a:off x="800100" y="571500"/>
            <a:ext cx="1136142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Day 2 Lab: Provisioning Services</a:t>
            </a:r>
            <a:endParaRPr/>
          </a:p>
        </p:txBody>
      </p:sp>
      <p:sp>
        <p:nvSpPr>
          <p:cNvPr id="178" name="Google Shape;178;p18"/>
          <p:cNvSpPr/>
          <p:nvPr/>
        </p:nvSpPr>
        <p:spPr>
          <a:xfrm>
            <a:off x="571500" y="571500"/>
            <a:ext cx="76200" cy="5485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8"/>
          <p:cNvSpPr txBox="1"/>
          <p:nvPr/>
        </p:nvSpPr>
        <p:spPr>
          <a:xfrm>
            <a:off x="10810875" y="6524625"/>
            <a:ext cx="10953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❖</a:t>
            </a:r>
            <a:r>
              <a:rPr b="0" i="0" lang="en-US" sz="90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 SAP AI Academy</a:t>
            </a:r>
            <a:endParaRPr/>
          </a:p>
        </p:txBody>
      </p:sp>
      <p:sp>
        <p:nvSpPr>
          <p:cNvPr id="180" name="Google Shape;180;p18"/>
          <p:cNvSpPr txBox="1"/>
          <p:nvPr/>
        </p:nvSpPr>
        <p:spPr>
          <a:xfrm>
            <a:off x="571500" y="2340917"/>
            <a:ext cx="5500687" cy="213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Required Services</a:t>
            </a:r>
            <a:endParaRPr/>
          </a:p>
        </p:txBody>
      </p:sp>
      <p:sp>
        <p:nvSpPr>
          <p:cNvPr id="181" name="Google Shape;181;p18"/>
          <p:cNvSpPr txBox="1"/>
          <p:nvPr/>
        </p:nvSpPr>
        <p:spPr>
          <a:xfrm>
            <a:off x="571500" y="2745283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Navigate to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Entity Assignments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in your BTP Cockpit and add the following:</a:t>
            </a:r>
            <a:endParaRPr/>
          </a:p>
        </p:txBody>
      </p:sp>
      <p:graphicFrame>
        <p:nvGraphicFramePr>
          <p:cNvPr id="182" name="Google Shape;182;p18"/>
          <p:cNvGraphicFramePr/>
          <p:nvPr/>
        </p:nvGraphicFramePr>
        <p:xfrm>
          <a:off x="571500" y="354538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{82A16652-C1C1-4168-AF4A-B1E2BBEFFBD0}</a:tableStyleId>
              </a:tblPr>
              <a:tblGrid>
                <a:gridCol w="3910150"/>
                <a:gridCol w="1328600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64748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Service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64748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Plan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00000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sap-ai-core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2563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free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00000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sap-ai-launchpad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2563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free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3" name="Google Shape;183;p18"/>
          <p:cNvSpPr txBox="1"/>
          <p:nvPr/>
        </p:nvSpPr>
        <p:spPr>
          <a:xfrm>
            <a:off x="571500" y="5107483"/>
            <a:ext cx="52387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97706"/>
                </a:solidFill>
                <a:latin typeface="Inter"/>
                <a:ea typeface="Inter"/>
                <a:cs typeface="Inter"/>
                <a:sym typeface="Inter"/>
              </a:rPr>
              <a:t>Tip: Use "free" plan, not "standard" to avoid costs.</a:t>
            </a:r>
            <a:endParaRPr/>
          </a:p>
        </p:txBody>
      </p:sp>
      <p:pic>
        <p:nvPicPr>
          <p:cNvPr descr="image.png" id="184" name="Google Shape;18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5145583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15375" y="341754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8"/>
          <p:cNvSpPr txBox="1"/>
          <p:nvPr/>
        </p:nvSpPr>
        <p:spPr>
          <a:xfrm>
            <a:off x="8220075" y="4179540"/>
            <a:ext cx="15621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BTP Cockpit Interface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1" name="Google Shape;19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750665"/>
            <a:ext cx="52387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9"/>
          <p:cNvSpPr txBox="1"/>
          <p:nvPr/>
        </p:nvSpPr>
        <p:spPr>
          <a:xfrm>
            <a:off x="800100" y="571500"/>
            <a:ext cx="1136142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Day 3: Containerization</a:t>
            </a:r>
            <a:endParaRPr/>
          </a:p>
        </p:txBody>
      </p:sp>
      <p:sp>
        <p:nvSpPr>
          <p:cNvPr id="193" name="Google Shape;193;p19"/>
          <p:cNvSpPr/>
          <p:nvPr/>
        </p:nvSpPr>
        <p:spPr>
          <a:xfrm>
            <a:off x="571500" y="571500"/>
            <a:ext cx="76200" cy="5485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9"/>
          <p:cNvSpPr txBox="1"/>
          <p:nvPr/>
        </p:nvSpPr>
        <p:spPr>
          <a:xfrm>
            <a:off x="10810875" y="6524625"/>
            <a:ext cx="10953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❖</a:t>
            </a:r>
            <a:r>
              <a:rPr b="0" i="0" lang="en-US" sz="90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 SAP AI Academy</a:t>
            </a:r>
            <a:endParaRPr/>
          </a:p>
        </p:txBody>
      </p:sp>
      <p:pic>
        <p:nvPicPr>
          <p:cNvPr descr="image.png" id="195" name="Google Shape;19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50665"/>
            <a:ext cx="52387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9"/>
          <p:cNvSpPr txBox="1"/>
          <p:nvPr/>
        </p:nvSpPr>
        <p:spPr>
          <a:xfrm>
            <a:off x="6381750" y="2110382"/>
            <a:ext cx="5500687" cy="213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Why Docker?</a:t>
            </a:r>
            <a:endParaRPr/>
          </a:p>
        </p:txBody>
      </p:sp>
      <p:sp>
        <p:nvSpPr>
          <p:cNvPr id="197" name="Google Shape;197;p19"/>
          <p:cNvSpPr txBox="1"/>
          <p:nvPr/>
        </p:nvSpPr>
        <p:spPr>
          <a:xfrm>
            <a:off x="6381750" y="2514748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SAP AI Core is built on Kubernetes. It does not run raw Python scripts; it runs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Containers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98" name="Google Shape;198;p19"/>
          <p:cNvSpPr txBox="1"/>
          <p:nvPr/>
        </p:nvSpPr>
        <p:spPr>
          <a:xfrm>
            <a:off x="6724650" y="3276748"/>
            <a:ext cx="4895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Isolation: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Your code and dependencies (scikit-learn, pandas) are packaged together.</a:t>
            </a:r>
            <a:endParaRPr/>
          </a:p>
        </p:txBody>
      </p:sp>
      <p:sp>
        <p:nvSpPr>
          <p:cNvPr id="199" name="Google Shape;199;p19"/>
          <p:cNvSpPr txBox="1"/>
          <p:nvPr/>
        </p:nvSpPr>
        <p:spPr>
          <a:xfrm>
            <a:off x="6724650" y="4076848"/>
            <a:ext cx="4895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Portability: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"It works on my machine" means it works on AI Core.</a:t>
            </a:r>
            <a:endParaRPr/>
          </a:p>
        </p:txBody>
      </p:sp>
      <p:sp>
        <p:nvSpPr>
          <p:cNvPr id="200" name="Google Shape;200;p19"/>
          <p:cNvSpPr txBox="1"/>
          <p:nvPr/>
        </p:nvSpPr>
        <p:spPr>
          <a:xfrm>
            <a:off x="6724650" y="4876948"/>
            <a:ext cx="4895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Workflow: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You will build images locally, push to Docker Hub, and AI Core will pull them.</a:t>
            </a:r>
            <a:endParaRPr/>
          </a:p>
        </p:txBody>
      </p:sp>
      <p:pic>
        <p:nvPicPr>
          <p:cNvPr descr="image.png" id="201" name="Google Shape;201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3295798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4095898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4895998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8" name="Google Shape;20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377380"/>
            <a:ext cx="2547937" cy="39091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05187" y="2377380"/>
            <a:ext cx="2547937" cy="39091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2377380"/>
            <a:ext cx="2547937" cy="39091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072562" y="2377380"/>
            <a:ext cx="2547937" cy="3909119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0"/>
          <p:cNvSpPr txBox="1"/>
          <p:nvPr/>
        </p:nvSpPr>
        <p:spPr>
          <a:xfrm>
            <a:off x="800100" y="571500"/>
            <a:ext cx="1136142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Day 3 Lab: Local Toolset</a:t>
            </a:r>
            <a:endParaRPr/>
          </a:p>
        </p:txBody>
      </p:sp>
      <p:sp>
        <p:nvSpPr>
          <p:cNvPr id="213" name="Google Shape;213;p20"/>
          <p:cNvSpPr/>
          <p:nvPr/>
        </p:nvSpPr>
        <p:spPr>
          <a:xfrm>
            <a:off x="571500" y="571500"/>
            <a:ext cx="76200" cy="5485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0"/>
          <p:cNvSpPr txBox="1"/>
          <p:nvPr/>
        </p:nvSpPr>
        <p:spPr>
          <a:xfrm>
            <a:off x="10810875" y="6524625"/>
            <a:ext cx="10953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❖</a:t>
            </a:r>
            <a:r>
              <a:rPr b="0" i="0" lang="en-US" sz="90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 SAP AI Academy</a:t>
            </a:r>
            <a:endParaRPr/>
          </a:p>
        </p:txBody>
      </p:sp>
      <p:sp>
        <p:nvSpPr>
          <p:cNvPr id="215" name="Google Shape;215;p20"/>
          <p:cNvSpPr txBox="1"/>
          <p:nvPr/>
        </p:nvSpPr>
        <p:spPr>
          <a:xfrm>
            <a:off x="571500" y="169158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Install the following tools to prepare your development environment:</a:t>
            </a:r>
            <a:endParaRPr/>
          </a:p>
        </p:txBody>
      </p:sp>
      <p:sp>
        <p:nvSpPr>
          <p:cNvPr id="216" name="Google Shape;216;p20"/>
          <p:cNvSpPr txBox="1"/>
          <p:nvPr/>
        </p:nvSpPr>
        <p:spPr>
          <a:xfrm>
            <a:off x="1430416" y="3329880"/>
            <a:ext cx="830103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Docker</a:t>
            </a:r>
            <a:endParaRPr/>
          </a:p>
        </p:txBody>
      </p:sp>
      <p:sp>
        <p:nvSpPr>
          <p:cNvPr id="217" name="Google Shape;217;p20"/>
          <p:cNvSpPr txBox="1"/>
          <p:nvPr/>
        </p:nvSpPr>
        <p:spPr>
          <a:xfrm>
            <a:off x="866775" y="3851820"/>
            <a:ext cx="1957387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Desktop version for building images.</a:t>
            </a:r>
            <a:endParaRPr/>
          </a:p>
        </p:txBody>
      </p:sp>
      <p:sp>
        <p:nvSpPr>
          <p:cNvPr id="218" name="Google Shape;218;p20"/>
          <p:cNvSpPr txBox="1"/>
          <p:nvPr/>
        </p:nvSpPr>
        <p:spPr>
          <a:xfrm>
            <a:off x="4169092" y="3329880"/>
            <a:ext cx="1020127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VS Code</a:t>
            </a:r>
            <a:endParaRPr/>
          </a:p>
        </p:txBody>
      </p:sp>
      <p:sp>
        <p:nvSpPr>
          <p:cNvPr id="219" name="Google Shape;219;p20"/>
          <p:cNvSpPr txBox="1"/>
          <p:nvPr/>
        </p:nvSpPr>
        <p:spPr>
          <a:xfrm>
            <a:off x="3700462" y="3851820"/>
            <a:ext cx="1957387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Recommended IDE + Python Ext.</a:t>
            </a:r>
            <a:endParaRPr/>
          </a:p>
        </p:txBody>
      </p:sp>
      <p:sp>
        <p:nvSpPr>
          <p:cNvPr id="220" name="Google Shape;220;p20"/>
          <p:cNvSpPr txBox="1"/>
          <p:nvPr/>
        </p:nvSpPr>
        <p:spPr>
          <a:xfrm>
            <a:off x="7052786" y="3329880"/>
            <a:ext cx="92011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BTP CLI</a:t>
            </a:r>
            <a:endParaRPr/>
          </a:p>
        </p:txBody>
      </p:sp>
      <p:sp>
        <p:nvSpPr>
          <p:cNvPr id="221" name="Google Shape;221;p20"/>
          <p:cNvSpPr txBox="1"/>
          <p:nvPr/>
        </p:nvSpPr>
        <p:spPr>
          <a:xfrm>
            <a:off x="6534150" y="3851820"/>
            <a:ext cx="1957387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Command line interface for SAP BTP.</a:t>
            </a:r>
            <a:endParaRPr/>
          </a:p>
        </p:txBody>
      </p:sp>
      <p:sp>
        <p:nvSpPr>
          <p:cNvPr id="222" name="Google Shape;222;p20"/>
          <p:cNvSpPr txBox="1"/>
          <p:nvPr/>
        </p:nvSpPr>
        <p:spPr>
          <a:xfrm>
            <a:off x="10176510" y="3329880"/>
            <a:ext cx="340042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Git</a:t>
            </a:r>
            <a:endParaRPr/>
          </a:p>
        </p:txBody>
      </p:sp>
      <p:sp>
        <p:nvSpPr>
          <p:cNvPr id="223" name="Google Shape;223;p20"/>
          <p:cNvSpPr txBox="1"/>
          <p:nvPr/>
        </p:nvSpPr>
        <p:spPr>
          <a:xfrm>
            <a:off x="9367837" y="3851820"/>
            <a:ext cx="1957387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For syncing templates to AI Core.</a:t>
            </a:r>
            <a:endParaRPr/>
          </a:p>
        </p:txBody>
      </p:sp>
      <p:pic>
        <p:nvPicPr>
          <p:cNvPr descr="image.png" id="224" name="Google Shape;224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607343" y="2710755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5" name="Google Shape;225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441031" y="2710755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298531" y="2710755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160793" y="2710755"/>
            <a:ext cx="371475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1"/>
          <p:cNvSpPr txBox="1"/>
          <p:nvPr/>
        </p:nvSpPr>
        <p:spPr>
          <a:xfrm>
            <a:off x="1143000" y="1333500"/>
            <a:ext cx="104013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Day 4: Security</a:t>
            </a:r>
            <a:endParaRPr/>
          </a:p>
        </p:txBody>
      </p:sp>
      <p:sp>
        <p:nvSpPr>
          <p:cNvPr id="233" name="Google Shape;233;p21"/>
          <p:cNvSpPr txBox="1"/>
          <p:nvPr/>
        </p:nvSpPr>
        <p:spPr>
          <a:xfrm>
            <a:off x="1143000" y="2263080"/>
            <a:ext cx="10401300" cy="213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Authentication &amp; Keys</a:t>
            </a:r>
            <a:endParaRPr/>
          </a:p>
        </p:txBody>
      </p:sp>
      <p:sp>
        <p:nvSpPr>
          <p:cNvPr id="234" name="Google Shape;234;p21"/>
          <p:cNvSpPr txBox="1"/>
          <p:nvPr/>
        </p:nvSpPr>
        <p:spPr>
          <a:xfrm>
            <a:off x="1143000" y="2857946"/>
            <a:ext cx="9906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SAP BTP uses OAuth 2.0. To allow external tools (like your laptop or Postman) to talk to AI Core, you need a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Service Key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235" name="Google Shape;235;p21"/>
          <p:cNvSpPr txBox="1"/>
          <p:nvPr/>
        </p:nvSpPr>
        <p:spPr>
          <a:xfrm>
            <a:off x="1143000" y="3753296"/>
            <a:ext cx="9906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The Service Key contains:</a:t>
            </a:r>
            <a:endParaRPr/>
          </a:p>
        </p:txBody>
      </p:sp>
      <p:pic>
        <p:nvPicPr>
          <p:cNvPr descr="image.png" id="236" name="Google Shape;23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7239446"/>
            <a:ext cx="11049000" cy="6253162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1"/>
          <p:cNvSpPr txBox="1"/>
          <p:nvPr/>
        </p:nvSpPr>
        <p:spPr>
          <a:xfrm>
            <a:off x="1485900" y="4305746"/>
            <a:ext cx="95631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clientid</a:t>
            </a:r>
            <a:endParaRPr/>
          </a:p>
        </p:txBody>
      </p:sp>
      <p:sp>
        <p:nvSpPr>
          <p:cNvPr id="238" name="Google Shape;238;p21"/>
          <p:cNvSpPr txBox="1"/>
          <p:nvPr/>
        </p:nvSpPr>
        <p:spPr>
          <a:xfrm>
            <a:off x="1485900" y="4810571"/>
            <a:ext cx="95631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clientsecret</a:t>
            </a:r>
            <a:endParaRPr/>
          </a:p>
        </p:txBody>
      </p:sp>
      <p:sp>
        <p:nvSpPr>
          <p:cNvPr id="239" name="Google Shape;239;p21"/>
          <p:cNvSpPr txBox="1"/>
          <p:nvPr/>
        </p:nvSpPr>
        <p:spPr>
          <a:xfrm>
            <a:off x="1485900" y="5315396"/>
            <a:ext cx="95631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url (Auth URL)</a:t>
            </a:r>
            <a:endParaRPr/>
          </a:p>
        </p:txBody>
      </p:sp>
      <p:sp>
        <p:nvSpPr>
          <p:cNvPr id="240" name="Google Shape;240;p21"/>
          <p:cNvSpPr txBox="1"/>
          <p:nvPr/>
        </p:nvSpPr>
        <p:spPr>
          <a:xfrm>
            <a:off x="1485900" y="5820221"/>
            <a:ext cx="95631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service_url (API Endpoint)</a:t>
            </a:r>
            <a:endParaRPr/>
          </a:p>
        </p:txBody>
      </p:sp>
      <p:pic>
        <p:nvPicPr>
          <p:cNvPr descr="image.png" id="241" name="Google Shape;24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3000" y="4324796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2" name="Google Shape;24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3000" y="4829621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3" name="Google Shape;24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3000" y="5334446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4" name="Google Shape;24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3000" y="5839271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9" name="Google Shape;24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2826990"/>
            <a:ext cx="5238750" cy="21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2"/>
          <p:cNvSpPr txBox="1"/>
          <p:nvPr/>
        </p:nvSpPr>
        <p:spPr>
          <a:xfrm>
            <a:off x="800100" y="571500"/>
            <a:ext cx="1136142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Day 4 Lab: Connectivity</a:t>
            </a:r>
            <a:endParaRPr/>
          </a:p>
        </p:txBody>
      </p:sp>
      <p:sp>
        <p:nvSpPr>
          <p:cNvPr id="251" name="Google Shape;251;p22"/>
          <p:cNvSpPr/>
          <p:nvPr/>
        </p:nvSpPr>
        <p:spPr>
          <a:xfrm>
            <a:off x="571500" y="571500"/>
            <a:ext cx="76200" cy="5485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2"/>
          <p:cNvSpPr txBox="1"/>
          <p:nvPr/>
        </p:nvSpPr>
        <p:spPr>
          <a:xfrm>
            <a:off x="10810875" y="6524625"/>
            <a:ext cx="10953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❖</a:t>
            </a:r>
            <a:r>
              <a:rPr b="0" i="0" lang="en-US" sz="90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 SAP AI Academy</a:t>
            </a:r>
            <a:endParaRPr/>
          </a:p>
        </p:txBody>
      </p:sp>
      <p:sp>
        <p:nvSpPr>
          <p:cNvPr id="253" name="Google Shape;253;p22"/>
          <p:cNvSpPr txBox="1"/>
          <p:nvPr/>
        </p:nvSpPr>
        <p:spPr>
          <a:xfrm>
            <a:off x="571500" y="2548532"/>
            <a:ext cx="5500687" cy="213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Generate &amp; Test</a:t>
            </a:r>
            <a:endParaRPr/>
          </a:p>
        </p:txBody>
      </p:sp>
      <p:sp>
        <p:nvSpPr>
          <p:cNvPr id="254" name="Google Shape;254;p22"/>
          <p:cNvSpPr txBox="1"/>
          <p:nvPr/>
        </p:nvSpPr>
        <p:spPr>
          <a:xfrm>
            <a:off x="628650" y="2952898"/>
            <a:ext cx="1333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1.</a:t>
            </a:r>
            <a:endParaRPr/>
          </a:p>
        </p:txBody>
      </p:sp>
      <p:sp>
        <p:nvSpPr>
          <p:cNvPr id="255" name="Google Shape;255;p22"/>
          <p:cNvSpPr txBox="1"/>
          <p:nvPr/>
        </p:nvSpPr>
        <p:spPr>
          <a:xfrm>
            <a:off x="762000" y="2952898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Go to BTP Cockpit &gt; Instances.</a:t>
            </a:r>
            <a:endParaRPr/>
          </a:p>
        </p:txBody>
      </p:sp>
      <p:sp>
        <p:nvSpPr>
          <p:cNvPr id="256" name="Google Shape;256;p22"/>
          <p:cNvSpPr txBox="1"/>
          <p:nvPr/>
        </p:nvSpPr>
        <p:spPr>
          <a:xfrm>
            <a:off x="590550" y="3400573"/>
            <a:ext cx="1714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2.</a:t>
            </a:r>
            <a:endParaRPr/>
          </a:p>
        </p:txBody>
      </p:sp>
      <p:sp>
        <p:nvSpPr>
          <p:cNvPr id="257" name="Google Shape;257;p22"/>
          <p:cNvSpPr txBox="1"/>
          <p:nvPr/>
        </p:nvSpPr>
        <p:spPr>
          <a:xfrm>
            <a:off x="762000" y="3400573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Select your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sap-ai-core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instance.</a:t>
            </a:r>
            <a:endParaRPr/>
          </a:p>
        </p:txBody>
      </p:sp>
      <p:sp>
        <p:nvSpPr>
          <p:cNvPr id="258" name="Google Shape;258;p22"/>
          <p:cNvSpPr txBox="1"/>
          <p:nvPr/>
        </p:nvSpPr>
        <p:spPr>
          <a:xfrm>
            <a:off x="590550" y="3848248"/>
            <a:ext cx="1714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3.</a:t>
            </a:r>
            <a:endParaRPr/>
          </a:p>
        </p:txBody>
      </p:sp>
      <p:sp>
        <p:nvSpPr>
          <p:cNvPr id="259" name="Google Shape;259;p22"/>
          <p:cNvSpPr txBox="1"/>
          <p:nvPr/>
        </p:nvSpPr>
        <p:spPr>
          <a:xfrm>
            <a:off x="762000" y="3848248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Click "Create Service Key".</a:t>
            </a:r>
            <a:endParaRPr/>
          </a:p>
        </p:txBody>
      </p:sp>
      <p:sp>
        <p:nvSpPr>
          <p:cNvPr id="260" name="Google Shape;260;p22"/>
          <p:cNvSpPr txBox="1"/>
          <p:nvPr/>
        </p:nvSpPr>
        <p:spPr>
          <a:xfrm>
            <a:off x="590550" y="4295923"/>
            <a:ext cx="1714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4.</a:t>
            </a:r>
            <a:endParaRPr/>
          </a:p>
        </p:txBody>
      </p:sp>
      <p:sp>
        <p:nvSpPr>
          <p:cNvPr id="261" name="Google Shape;261;p22"/>
          <p:cNvSpPr txBox="1"/>
          <p:nvPr/>
        </p:nvSpPr>
        <p:spPr>
          <a:xfrm>
            <a:off x="762000" y="4295923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Copy the JSON output.</a:t>
            </a:r>
            <a:endParaRPr/>
          </a:p>
        </p:txBody>
      </p:sp>
      <p:sp>
        <p:nvSpPr>
          <p:cNvPr id="262" name="Google Shape;262;p22"/>
          <p:cNvSpPr txBox="1"/>
          <p:nvPr/>
        </p:nvSpPr>
        <p:spPr>
          <a:xfrm>
            <a:off x="600075" y="4743598"/>
            <a:ext cx="1619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5.</a:t>
            </a:r>
            <a:endParaRPr/>
          </a:p>
        </p:txBody>
      </p:sp>
      <p:sp>
        <p:nvSpPr>
          <p:cNvPr id="263" name="Google Shape;263;p22"/>
          <p:cNvSpPr txBox="1"/>
          <p:nvPr/>
        </p:nvSpPr>
        <p:spPr>
          <a:xfrm>
            <a:off x="762000" y="4743598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619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Authenticate via CLI or Postman to verify access.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8" name="Google Shape;26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750665"/>
            <a:ext cx="52387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3"/>
          <p:cNvSpPr txBox="1"/>
          <p:nvPr/>
        </p:nvSpPr>
        <p:spPr>
          <a:xfrm>
            <a:off x="800100" y="571500"/>
            <a:ext cx="1136142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Day 5: AI Launchpad</a:t>
            </a:r>
            <a:endParaRPr/>
          </a:p>
        </p:txBody>
      </p:sp>
      <p:sp>
        <p:nvSpPr>
          <p:cNvPr id="270" name="Google Shape;270;p23"/>
          <p:cNvSpPr/>
          <p:nvPr/>
        </p:nvSpPr>
        <p:spPr>
          <a:xfrm>
            <a:off x="571500" y="571500"/>
            <a:ext cx="76200" cy="5485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3"/>
          <p:cNvSpPr txBox="1"/>
          <p:nvPr/>
        </p:nvSpPr>
        <p:spPr>
          <a:xfrm>
            <a:off x="10810875" y="6524625"/>
            <a:ext cx="10953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❖</a:t>
            </a:r>
            <a:r>
              <a:rPr b="0" i="0" lang="en-US" sz="90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 SAP AI Academy</a:t>
            </a:r>
            <a:endParaRPr/>
          </a:p>
        </p:txBody>
      </p:sp>
      <p:pic>
        <p:nvPicPr>
          <p:cNvPr descr="image.png" id="272" name="Google Shape;272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50665"/>
            <a:ext cx="52387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3"/>
          <p:cNvSpPr txBox="1"/>
          <p:nvPr/>
        </p:nvSpPr>
        <p:spPr>
          <a:xfrm>
            <a:off x="6381750" y="2110382"/>
            <a:ext cx="5500687" cy="213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The Command Center</a:t>
            </a:r>
            <a:endParaRPr/>
          </a:p>
        </p:txBody>
      </p:sp>
      <p:sp>
        <p:nvSpPr>
          <p:cNvPr id="274" name="Google Shape;274;p23"/>
          <p:cNvSpPr txBox="1"/>
          <p:nvPr/>
        </p:nvSpPr>
        <p:spPr>
          <a:xfrm>
            <a:off x="6381750" y="2514748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SAP AI Launchpad is a SaaS application that provides a unified interface for all your AI runtimes.</a:t>
            </a:r>
            <a:endParaRPr/>
          </a:p>
        </p:txBody>
      </p:sp>
      <p:sp>
        <p:nvSpPr>
          <p:cNvPr id="275" name="Google Shape;275;p23"/>
          <p:cNvSpPr txBox="1"/>
          <p:nvPr/>
        </p:nvSpPr>
        <p:spPr>
          <a:xfrm>
            <a:off x="6724650" y="3276748"/>
            <a:ext cx="4895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Administration: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Add connections to multiple AI Core instances.</a:t>
            </a:r>
            <a:endParaRPr/>
          </a:p>
        </p:txBody>
      </p:sp>
      <p:sp>
        <p:nvSpPr>
          <p:cNvPr id="276" name="Google Shape;276;p23"/>
          <p:cNvSpPr txBox="1"/>
          <p:nvPr/>
        </p:nvSpPr>
        <p:spPr>
          <a:xfrm>
            <a:off x="6724650" y="4076848"/>
            <a:ext cx="4895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Resource Groups: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Logical isolation (e.g., Dev, Test, Prod) within one AI Core instance.</a:t>
            </a:r>
            <a:endParaRPr/>
          </a:p>
        </p:txBody>
      </p:sp>
      <p:sp>
        <p:nvSpPr>
          <p:cNvPr id="277" name="Google Shape;277;p23"/>
          <p:cNvSpPr txBox="1"/>
          <p:nvPr/>
        </p:nvSpPr>
        <p:spPr>
          <a:xfrm>
            <a:off x="6724650" y="4876948"/>
            <a:ext cx="4895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Operations: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Monitor training metrics and deployment status.</a:t>
            </a:r>
            <a:endParaRPr/>
          </a:p>
        </p:txBody>
      </p:sp>
      <p:pic>
        <p:nvPicPr>
          <p:cNvPr descr="image.png" id="278" name="Google Shape;278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3295798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9" name="Google Shape;279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4095898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0" name="Google Shape;280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4895998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5" name="Google Shape;28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197447"/>
            <a:ext cx="11049000" cy="27373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6" name="Google Shape;286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33687" y="4058542"/>
            <a:ext cx="17526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7" name="Google Shape;287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76787" y="4058542"/>
            <a:ext cx="21907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8" name="Google Shape;288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58037" y="4058542"/>
            <a:ext cx="2200275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4"/>
          <p:cNvSpPr txBox="1"/>
          <p:nvPr/>
        </p:nvSpPr>
        <p:spPr>
          <a:xfrm>
            <a:off x="800100" y="571500"/>
            <a:ext cx="1136142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Day 5 Lab: Final Config</a:t>
            </a:r>
            <a:endParaRPr/>
          </a:p>
        </p:txBody>
      </p:sp>
      <p:sp>
        <p:nvSpPr>
          <p:cNvPr id="290" name="Google Shape;290;p24"/>
          <p:cNvSpPr/>
          <p:nvPr/>
        </p:nvSpPr>
        <p:spPr>
          <a:xfrm>
            <a:off x="571500" y="571500"/>
            <a:ext cx="76200" cy="5485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4"/>
          <p:cNvSpPr txBox="1"/>
          <p:nvPr/>
        </p:nvSpPr>
        <p:spPr>
          <a:xfrm>
            <a:off x="10810875" y="6524625"/>
            <a:ext cx="10953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❖</a:t>
            </a:r>
            <a:r>
              <a:rPr b="0" i="0" lang="en-US" sz="90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 SAP AI Academy</a:t>
            </a:r>
            <a:endParaRPr/>
          </a:p>
        </p:txBody>
      </p:sp>
      <p:sp>
        <p:nvSpPr>
          <p:cNvPr id="292" name="Google Shape;292;p24"/>
          <p:cNvSpPr txBox="1"/>
          <p:nvPr/>
        </p:nvSpPr>
        <p:spPr>
          <a:xfrm>
            <a:off x="571500" y="5220592"/>
            <a:ext cx="11049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Next Week: </a:t>
            </a:r>
            <a:r>
              <a:rPr b="1" i="0" lang="en-US" sz="13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AI Core Operations</a:t>
            </a:r>
            <a:r>
              <a:rPr b="0" i="0" lang="en-US" sz="13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(Argo Workflows &amp; Training)</a:t>
            </a:r>
            <a:endParaRPr/>
          </a:p>
        </p:txBody>
      </p:sp>
      <p:sp>
        <p:nvSpPr>
          <p:cNvPr id="293" name="Google Shape;293;p24"/>
          <p:cNvSpPr txBox="1"/>
          <p:nvPr/>
        </p:nvSpPr>
        <p:spPr>
          <a:xfrm>
            <a:off x="715327" y="2597497"/>
            <a:ext cx="1076134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Week 1 Complete!</a:t>
            </a:r>
            <a:endParaRPr/>
          </a:p>
        </p:txBody>
      </p:sp>
      <p:sp>
        <p:nvSpPr>
          <p:cNvPr id="294" name="Google Shape;294;p24"/>
          <p:cNvSpPr txBox="1"/>
          <p:nvPr/>
        </p:nvSpPr>
        <p:spPr>
          <a:xfrm>
            <a:off x="2286000" y="3153667"/>
            <a:ext cx="76200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You have successfully subscribed to the Launchpad, connected it to your AI Core instance using the Service Key, and created your first Resource Group (default).</a:t>
            </a:r>
            <a:endParaRPr/>
          </a:p>
        </p:txBody>
      </p:sp>
      <p:pic>
        <p:nvPicPr>
          <p:cNvPr descr="image.png" id="295" name="Google Shape;295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119437" y="4220467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6" name="Google Shape;296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62537" y="4220467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7" name="Google Shape;297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443787" y="4220467"/>
            <a:ext cx="13335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5"/>
          <p:cNvSpPr txBox="1"/>
          <p:nvPr/>
        </p:nvSpPr>
        <p:spPr>
          <a:xfrm>
            <a:off x="800100" y="571500"/>
            <a:ext cx="1136142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Image Sources</a:t>
            </a:r>
            <a:endParaRPr/>
          </a:p>
        </p:txBody>
      </p:sp>
      <p:sp>
        <p:nvSpPr>
          <p:cNvPr id="303" name="Google Shape;303;p25"/>
          <p:cNvSpPr/>
          <p:nvPr/>
        </p:nvSpPr>
        <p:spPr>
          <a:xfrm>
            <a:off x="571500" y="571500"/>
            <a:ext cx="76200" cy="5485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5"/>
          <p:cNvSpPr/>
          <p:nvPr/>
        </p:nvSpPr>
        <p:spPr>
          <a:xfrm>
            <a:off x="571500" y="2229891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5"/>
          <p:cNvSpPr/>
          <p:nvPr/>
        </p:nvSpPr>
        <p:spPr>
          <a:xfrm>
            <a:off x="571500" y="3014662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5"/>
          <p:cNvSpPr/>
          <p:nvPr/>
        </p:nvSpPr>
        <p:spPr>
          <a:xfrm>
            <a:off x="571500" y="3799433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5"/>
          <p:cNvSpPr/>
          <p:nvPr/>
        </p:nvSpPr>
        <p:spPr>
          <a:xfrm>
            <a:off x="571500" y="30051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5"/>
          <p:cNvSpPr/>
          <p:nvPr/>
        </p:nvSpPr>
        <p:spPr>
          <a:xfrm>
            <a:off x="571500" y="30051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5"/>
          <p:cNvSpPr/>
          <p:nvPr/>
        </p:nvSpPr>
        <p:spPr>
          <a:xfrm>
            <a:off x="571500" y="378990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5"/>
          <p:cNvSpPr/>
          <p:nvPr/>
        </p:nvSpPr>
        <p:spPr>
          <a:xfrm>
            <a:off x="571500" y="378990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5"/>
          <p:cNvSpPr/>
          <p:nvPr/>
        </p:nvSpPr>
        <p:spPr>
          <a:xfrm>
            <a:off x="571500" y="457467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5"/>
          <p:cNvSpPr/>
          <p:nvPr/>
        </p:nvSpPr>
        <p:spPr>
          <a:xfrm>
            <a:off x="571500" y="457467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13" name="Google Shape;31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37931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25"/>
          <p:cNvSpPr txBox="1"/>
          <p:nvPr/>
        </p:nvSpPr>
        <p:spPr>
          <a:xfrm>
            <a:off x="1666875" y="2372766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https://media.geeksforgeeks.org/wp-content/uploads/20250825133452766889/cloud_computing_architecture.webp</a:t>
            </a:r>
            <a:endParaRPr/>
          </a:p>
        </p:txBody>
      </p:sp>
      <p:sp>
        <p:nvSpPr>
          <p:cNvPr id="315" name="Google Shape;315;p25"/>
          <p:cNvSpPr txBox="1"/>
          <p:nvPr/>
        </p:nvSpPr>
        <p:spPr>
          <a:xfrm>
            <a:off x="1666875" y="2618482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www.geeksforgeeks.org</a:t>
            </a:r>
            <a:endParaRPr/>
          </a:p>
        </p:txBody>
      </p:sp>
      <p:pic>
        <p:nvPicPr>
          <p:cNvPr descr="image.png" id="316" name="Google Shape;316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16408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5"/>
          <p:cNvSpPr txBox="1"/>
          <p:nvPr/>
        </p:nvSpPr>
        <p:spPr>
          <a:xfrm>
            <a:off x="1666875" y="3157537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https://www.apiculus.com/blog/wp-content/uploads/2025/02/Blog-Cover.png</a:t>
            </a:r>
            <a:endParaRPr/>
          </a:p>
        </p:txBody>
      </p:sp>
      <p:sp>
        <p:nvSpPr>
          <p:cNvPr id="318" name="Google Shape;318;p25"/>
          <p:cNvSpPr txBox="1"/>
          <p:nvPr/>
        </p:nvSpPr>
        <p:spPr>
          <a:xfrm>
            <a:off x="1666875" y="3403252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www.apiculus.com</a:t>
            </a:r>
            <a:endParaRPr/>
          </a:p>
        </p:txBody>
      </p:sp>
      <p:pic>
        <p:nvPicPr>
          <p:cNvPr descr="image.png" id="319" name="Google Shape;319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94885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25"/>
          <p:cNvSpPr txBox="1"/>
          <p:nvPr/>
        </p:nvSpPr>
        <p:spPr>
          <a:xfrm>
            <a:off x="1666875" y="3942308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https://travisasm.com/web/image/12500-71b7a47c/APILEAKS%20ART.jpeg?access_token=f3def6ce-cd63-4d19-9f10-60b805a321c8</a:t>
            </a:r>
            <a:endParaRPr/>
          </a:p>
        </p:txBody>
      </p:sp>
      <p:sp>
        <p:nvSpPr>
          <p:cNvPr id="321" name="Google Shape;321;p25"/>
          <p:cNvSpPr txBox="1"/>
          <p:nvPr/>
        </p:nvSpPr>
        <p:spPr>
          <a:xfrm>
            <a:off x="1666875" y="4188023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travisasm.com</a:t>
            </a:r>
            <a:endParaRPr/>
          </a:p>
        </p:txBody>
      </p:sp>
      <p:pic>
        <p:nvPicPr>
          <p:cNvPr descr="image.png" id="322" name="Google Shape;322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83274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25"/>
          <p:cNvSpPr txBox="1"/>
          <p:nvPr/>
        </p:nvSpPr>
        <p:spPr>
          <a:xfrm>
            <a:off x="1666875" y="4727078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https://media.istockphoto.com/id/1145433490/vector/infographic-dashboard-template-with-flat-design-graphs-and-pie-charts-online-statistics-and.jpg?s=1024x1024&amp;w=is&amp;k=20&amp;c=VxenDRSF9dp8dPmHgI0KnYCPWWJ33D8mghCwKltpWAE=</a:t>
            </a:r>
            <a:endParaRPr/>
          </a:p>
        </p:txBody>
      </p:sp>
      <p:sp>
        <p:nvSpPr>
          <p:cNvPr id="324" name="Google Shape;324;p25"/>
          <p:cNvSpPr txBox="1"/>
          <p:nvPr/>
        </p:nvSpPr>
        <p:spPr>
          <a:xfrm>
            <a:off x="1666875" y="5170884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www.istockphoto.com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