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JetBrains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909A30-C2BB-4C79-88F8-5868437DD1F3}">
  <a:tblStyle styleId="{6D909A30-C2BB-4C79-88F8-5868437DD1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JetBrainsMono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boldItalic.fntdata"/><Relationship Id="rId30" Type="http://schemas.openxmlformats.org/officeDocument/2006/relationships/font" Target="fonts/JetBrains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1" Type="http://schemas.openxmlformats.org/officeDocument/2006/relationships/image" Target="../media/image20.png"/><Relationship Id="rId10" Type="http://schemas.openxmlformats.org/officeDocument/2006/relationships/image" Target="../media/image26.png"/><Relationship Id="rId12" Type="http://schemas.openxmlformats.org/officeDocument/2006/relationships/image" Target="../media/image22.png"/><Relationship Id="rId9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1127" y="1925091"/>
            <a:ext cx="8909744" cy="300781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28460" y="2506116"/>
            <a:ext cx="8135079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Week 2: AI Core Operations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22102" y="4004591"/>
            <a:ext cx="7747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From Dockerization to Deployment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Mastering the SAP AI Core Runtime Engine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4615"/>
            <a:ext cx="5238750" cy="216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74615"/>
            <a:ext cx="5238750" cy="216589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3265140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2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Containerization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684240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start by packaging our models. You will learn to write Dockerfiles that encapsulate your code and dependencies, making them portable for SAP AI Core.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3265140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0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Orchestration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684240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move to defining workflows. You'll master Argo Workflows (YAML) to tell AI Core exactly how to run your training and inference jobs in the cloud.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284190"/>
            <a:ext cx="222944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284190"/>
            <a:ext cx="28009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Week 2 Roadmap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47887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1478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Declarative AI Pipelines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566987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SAP AI Core relies on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Argo Workflows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 Kubernetes-native workflow engine. Instead of manually running scripts, we define our pipeline states in YAML.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14375" y="353178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09625" y="353273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Templates: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Reusable blueprints for execution.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14375" y="392037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09625" y="392132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DAGs: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Directed Acyclic Graphs defining step order.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14375" y="430896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4309913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Artifacts: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Files passed between steps (e.g., datasets, models).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57412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6: The Argo Workflow Engine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77988"/>
            <a:ext cx="5238750" cy="295929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2477988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Anatomy of a Template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2897088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standard workflow configuration requires specific definitions. This structure allows AI Core to interpret your request.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3636168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Components: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581775" y="2697063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sample-workflow.yaml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038975" y="3123604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WorkflowTemplate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191375" y="3550146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training-pipeline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648575" y="3976687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my-pipeline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343775" y="4403228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my-pipeline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48575" y="482977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train-step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953375" y="5043041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training-def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14375" y="405238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09625" y="405333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Executables: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Docker image to run.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14375" y="444097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09625" y="4441924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Parameters or datasets.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14375" y="482956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09625" y="4830514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Outputs: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Generated models or logs.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6: Workflow Structure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2290762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6381750" y="264512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Why Containerize?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381750" y="3064222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SAP AI Core is a runtime environment, not a development environment. It doesn't know about your local Python installation.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81750" y="4029967"/>
            <a:ext cx="52387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wrapping your Scikit-learn script in 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Docker container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you guarantee that it runs exactly the same way in the cloud as it does on your laptop. This encapsulates all libraries (pandas, sklearn) and system dependencies.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2100" y="2328862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7: Docker Strategy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58007"/>
            <a:ext cx="5238750" cy="359911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215800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Building the Image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577107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Dockerfile is your recipe. For the Free Tier course, we build locally and push to Docker Hub.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581775" y="2377082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Dockerfile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962775" y="2590353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python:3.9-slim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191375" y="3016894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/app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581775" y="3443436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Install dependencies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581775" y="4296519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Copy training script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581775" y="4936331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Set permissions for AI Core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14375" y="326761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09625" y="326856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FROM: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Start with a Python base image.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14375" y="365620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09625" y="365715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WORKDIR: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Set the directory inside the container.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14375" y="404479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09625" y="404574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COPY: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Move your local script into the container.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14375" y="443338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09625" y="4434333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Install requirements.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7: The Dockerfile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/>
          <p:nvPr/>
        </p:nvSpPr>
        <p:spPr>
          <a:xfrm>
            <a:off x="571500" y="41290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07968" y="4433887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Commit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4852987"/>
            <a:ext cx="254124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 YAML templates locally and commit changes to git.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3343888" y="2751832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Push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3407419" y="3170932"/>
            <a:ext cx="254124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Push your templates to the remote GitHub repository.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179808" y="4433887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Register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243339" y="4852987"/>
            <a:ext cx="254124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Define an "Application" in SAP AI Core pointing to your repo.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015728" y="2477541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Sync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9079259" y="2896641"/>
            <a:ext cx="254124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Core pulls the latest commit and updates internal definitions.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1727820" y="40338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563740" y="40338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399659" y="40338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0235579" y="40338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8: GitOps &amp; Synchronization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6544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56544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56544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6518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1863581" y="3604319"/>
            <a:ext cx="9082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Pending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66775" y="402341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job is queued. AI Core is requesting resources (CPUs/Memory) from the underlying Kubernetes cluster.</a:t>
            </a:r>
            <a:endParaRPr/>
          </a:p>
        </p:txBody>
      </p:sp>
      <p:pic>
        <p:nvPicPr>
          <p:cNvPr descr="image.png" id="211" name="Google Shape;21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6518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631879" y="3604319"/>
            <a:ext cx="9282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Running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4645074" y="402341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Docker container is active. Your Python script is executing, processing data, and training the model.</a:t>
            </a:r>
            <a:endParaRPr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6518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9266251" y="3604319"/>
            <a:ext cx="12162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Completed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423374" y="4023419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Success. The process exit code was 0. The trained model file has been uploaded to the Object Store.</a:t>
            </a:r>
            <a:endParaRPr/>
          </a:p>
        </p:txBody>
      </p:sp>
      <p:pic>
        <p:nvPicPr>
          <p:cNvPr descr="image.png" id="217" name="Google Shape;21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27200" y="28423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57875" y="284231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83799" y="28423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9: Training Execution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762000" y="762000"/>
            <a:ext cx="4800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9: Artifact Management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62000" y="1885950"/>
            <a:ext cx="4572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62000" y="2878484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Object Store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62000" y="3297584"/>
            <a:ext cx="4572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 Core containers are ephemeral—they disappear after the job finishes. To save your model, your script must write to a specific output path.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62000" y="4263330"/>
            <a:ext cx="45720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SAP AI Core automatically captures files written to these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Output Artifact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paths and persists them in your connected Object Store (S3/Azure Blob), creating a permanent ID for the model.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/>
          <p:nvPr/>
        </p:nvSpPr>
        <p:spPr>
          <a:xfrm>
            <a:off x="5619750" y="2763142"/>
            <a:ext cx="952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1670446" y="3086992"/>
            <a:ext cx="885110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Day 10: Deployment &amp; Inference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4062412" y="3963292"/>
            <a:ext cx="4067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Turning a static model file into a live API endpoint.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" name="Google Shape;246;p23"/>
          <p:cNvGraphicFramePr/>
          <p:nvPr/>
        </p:nvGraphicFramePr>
        <p:xfrm>
          <a:off x="571500" y="23279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{6D909A30-C2BB-4C79-88F8-5868437DD1F3}</a:tableStyleId>
              </a:tblPr>
              <a:tblGrid>
                <a:gridCol w="1844275"/>
                <a:gridCol w="4205425"/>
                <a:gridCol w="4989750"/>
              </a:tblGrid>
              <a:tr h="6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Example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URL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deployment URL provided by AI 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https://api.ai.prod.eu-central-1.../v2/inference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Authentication Token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Authorization: Bearer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Resource Group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AI-Resource-Group: default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Payload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data for prediction (JSON)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 "text": "classify this ticket..." 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23"/>
          <p:cNvSpPr/>
          <p:nvPr/>
        </p:nvSpPr>
        <p:spPr>
          <a:xfrm>
            <a:off x="576262" y="2913757"/>
            <a:ext cx="18442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420540" y="2913757"/>
            <a:ext cx="4205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6625976" y="2913757"/>
            <a:ext cx="4989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6262" y="3578572"/>
            <a:ext cx="18442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2420540" y="3578572"/>
            <a:ext cx="4205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6625976" y="3578572"/>
            <a:ext cx="4989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6262" y="4243387"/>
            <a:ext cx="18442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2420540" y="4243387"/>
            <a:ext cx="4205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625976" y="4243387"/>
            <a:ext cx="4989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76262" y="4908202"/>
            <a:ext cx="18442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2420540" y="4908202"/>
            <a:ext cx="4205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625976" y="4908202"/>
            <a:ext cx="4989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76262" y="5573017"/>
            <a:ext cx="18442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420540" y="5573017"/>
            <a:ext cx="4205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625976" y="5573017"/>
            <a:ext cx="49897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Day 10: Consuming the Endpoint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295275" y="242976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End of Week 2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571500" y="35441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have successfully deployed a custom AI model on SAP BTP.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571500" y="4199483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Next Week: Generative AI Hub &amp; LLMs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/>
          <p:nvPr/>
        </p:nvSpPr>
        <p:spPr>
          <a:xfrm>
            <a:off x="571500" y="229373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307850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386328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71500" y="30689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71500" y="30689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38537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38537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71500" y="46385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71500" y="46385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6" name="Google Shape;2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3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666875" y="243661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https://miro.medium.com/v2/resize:fit:1200/1*Gq_obHF6_4ivavK6ENahGw.png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666875" y="268232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itnext.io</a:t>
            </a:r>
            <a:endParaRPr/>
          </a:p>
        </p:txBody>
      </p:sp>
      <p:pic>
        <p:nvPicPr>
          <p:cNvPr descr="image.png" id="289" name="Google Shape;28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279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1666875" y="322138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https://www.docker.com/app/uploads/2021/11/container-what-is-container.png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666875" y="346710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www.docker.com</a:t>
            </a:r>
            <a:endParaRPr/>
          </a:p>
        </p:txBody>
      </p:sp>
      <p:pic>
        <p:nvPicPr>
          <p:cNvPr descr="image.png" id="292" name="Google Shape;29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127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1666875" y="400615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https://static.thenounproject.com/png/5318508-200.png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666875" y="425187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thenounproject.com</a:t>
            </a:r>
            <a:endParaRPr/>
          </a:p>
        </p:txBody>
      </p:sp>
      <p:pic>
        <p:nvPicPr>
          <p:cNvPr descr="image.png" id="295" name="Google Shape;29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65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1666875" y="479092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https://media.istockphoto.com/id/1169136078/vector/data-center-abstract-background-interior-of-server-room-digital-information-warehouse-web.jpg?s=612x612&amp;w=0&amp;k=20&amp;c=1Bzl841OK5jvbmBXrSWf9NKcst6e7JeEAgBNtWU-4ws=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666875" y="523473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Sources</a:t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